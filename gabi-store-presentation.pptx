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GABI-STORE</a:t>
            </a:r>
          </a:p>
        </p:txBody>
      </p:sp>
      <p:sp>
        <p:nvSpPr>
          <p:cNvPr id="3" name="Content Placeholder 2"/>
          <p:cNvSpPr>
            <a:spLocks noGrp="1"/>
          </p:cNvSpPr>
          <p:nvPr>
            <p:ph idx="1"/>
          </p:nvPr>
        </p:nvSpPr>
        <p:spPr/>
        <p:txBody>
          <a:bodyPr wrap="square"/>
          <a:lstStyle/>
          <a:p/>
          <a:p>
            <a:pPr>
              <a:defRPr sz="2000" b="1">
                <a:solidFill>
                  <a:srgbClr val="003366"/>
                </a:solidFill>
              </a:defRPr>
            </a:pPr>
            <a:r>
              <a:t>Ứng Dụng Web Thương Mại Điện Tử</a:t>
            </a:r>
          </a:p>
          <a:p>
            <a:pPr>
              <a:defRPr sz="1400"/>
            </a:pPr>
            <a:r>
              <a:t>Công Nghệ:</a:t>
            </a:r>
          </a:p>
          <a:p>
            <a:pPr>
              <a:defRPr sz="1400"/>
            </a:pPr>
            <a:r>
              <a:t>ReactJS + NestJS + MySQL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Mục Tiêu Hệ Thống</a:t>
            </a:r>
          </a:p>
        </p:txBody>
      </p:sp>
      <p:sp>
        <p:nvSpPr>
          <p:cNvPr id="3" name="Content Placeholder 2"/>
          <p:cNvSpPr>
            <a:spLocks noGrp="1"/>
          </p:cNvSpPr>
          <p:nvPr>
            <p:ph idx="1"/>
          </p:nvPr>
        </p:nvSpPr>
        <p:spPr/>
        <p:txBody>
          <a:bodyPr wrap="square"/>
          <a:lstStyle/>
          <a:p/>
          <a:p>
            <a:pPr>
              <a:defRPr sz="1800" b="1">
                <a:solidFill>
                  <a:srgbClr val="0066CC"/>
                </a:solidFill>
              </a:defRPr>
            </a:pPr>
            <a:r>
              <a:t>Mục Đích Chính</a:t>
            </a:r>
          </a:p>
          <a:p>
            <a:pPr>
              <a:defRPr sz="1400"/>
            </a:pPr>
            <a:r>
              <a:t>Xây dựng nền tảng thương mại điện tử đầy đủ tính năng, hiện đại và dễ sử dụng cho cả người mua và người quản trị.</a:t>
            </a:r>
          </a:p>
          <a:p>
            <a:pPr>
              <a:defRPr sz="1800" b="1">
                <a:solidFill>
                  <a:srgbClr val="0066CC"/>
                </a:solidFill>
              </a:defRPr>
            </a:pPr>
            <a:r>
              <a:t>Giải Pháp Cung Cấp</a:t>
            </a:r>
          </a:p>
          <a:p>
            <a:pPr>
              <a:defRPr sz="1400"/>
            </a:pPr>
            <a:r>
              <a:t>🛍️ Trải nghiệm mua sắm trực tuyến hoàn chỉnh</a:t>
            </a:r>
          </a:p>
          <a:p>
            <a:pPr>
              <a:defRPr sz="1400"/>
            </a:pPr>
            <a:r>
              <a:t>💳 Thanh toán an toàn qua PayPal</a:t>
            </a:r>
          </a:p>
          <a:p>
            <a:pPr>
              <a:defRPr sz="1400"/>
            </a:pPr>
            <a:r>
              <a:t>📊 Quản lý hiệu quả sản phẩm và đơn hàng</a:t>
            </a:r>
          </a:p>
          <a:p>
            <a:pPr>
              <a:defRPr sz="1400"/>
            </a:pPr>
            <a:r>
              <a:t>🔐 Bảo mật cao với JWT Authentication</a:t>
            </a:r>
          </a:p>
          <a:p>
            <a:pPr>
              <a:defRPr sz="1400"/>
            </a:pPr>
            <a:r>
              <a:t>📱 Giao diện responsive trên mọi thiết bị</a:t>
            </a:r>
          </a:p>
          <a:p>
            <a:pPr>
              <a:defRPr sz="1800" b="1">
                <a:solidFill>
                  <a:srgbClr val="0066CC"/>
                </a:solidFill>
              </a:defRPr>
            </a:pPr>
            <a:r>
              <a:t>Đối Tượng Sử Dụng</a:t>
            </a:r>
          </a:p>
          <a:p>
            <a:pPr>
              <a:defRPr sz="1400"/>
            </a:pPr>
            <a:r>
              <a:t>Khách hàng: Người mua sắm trực tuyến</a:t>
            </a:r>
          </a:p>
          <a:p>
            <a:pPr>
              <a:defRPr sz="1400"/>
            </a:pPr>
            <a:r>
              <a:t>Quản trị viên: Nhân viên quản lý cửa hàng</a:t>
            </a:r>
          </a:p>
          <a:p>
            <a:pPr>
              <a:defRPr sz="1400"/>
            </a:pPr>
            <a:r>
              <a:t>Admin: Quản trị hệ thống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lgn="ctr">
              <a:defRPr sz="3200" b="1">
                <a:solidFill>
                  <a:srgbClr val="003366"/>
                </a:solidFill>
              </a:defRPr>
            </a:pPr>
            <a:r>
              <a:t>🏗️ Kiến Trúc Hệ Thống</a:t>
            </a:r>
          </a:p>
        </p:txBody>
      </p:sp>
      <p:pic>
        <p:nvPicPr>
          <p:cNvPr id="3" name="Picture 2" descr="gabi_store_architecture_1769613970540.png"/>
          <p:cNvPicPr>
            <a:picLocks noChangeAspect="1"/>
          </p:cNvPicPr>
          <p:nvPr/>
        </p:nvPicPr>
        <p:blipFill>
          <a:blip r:embed="rId2"/>
          <a:stretch>
            <a:fillRect/>
          </a:stretch>
        </p:blipFill>
        <p:spPr>
          <a:xfrm>
            <a:off x="1371600" y="1371600"/>
            <a:ext cx="6400800" cy="6400800"/>
          </a:xfrm>
          <a:prstGeom prst="rect">
            <a:avLst/>
          </a:prstGeom>
        </p:spPr>
      </p:pic>
      <p:sp>
        <p:nvSpPr>
          <p:cNvPr id="4" name="TextBox 3"/>
          <p:cNvSpPr txBox="1"/>
          <p:nvPr/>
        </p:nvSpPr>
        <p:spPr>
          <a:xfrm>
            <a:off x="457200" y="5029200"/>
            <a:ext cx="8229600" cy="1371600"/>
          </a:xfrm>
          <a:prstGeom prst="rect">
            <a:avLst/>
          </a:prstGeom>
          <a:noFill/>
        </p:spPr>
        <p:txBody>
          <a:bodyPr wrap="square">
            <a:spAutoFit/>
          </a:bodyPr>
          <a:lstStyle/>
          <a:p/>
          <a:p>
            <a:pPr>
              <a:defRPr sz="1800" b="1">
                <a:solidFill>
                  <a:srgbClr val="0066CC"/>
                </a:solidFill>
              </a:defRPr>
            </a:pPr>
            <a:r>
              <a:t>Các Lớp Chính</a:t>
            </a:r>
          </a:p>
          <a:p>
            <a:pPr>
              <a:defRPr sz="1400"/>
            </a:pPr>
            <a:r>
              <a:t>Frontend Layer</a:t>
            </a:r>
          </a:p>
          <a:p>
            <a:pPr>
              <a:defRPr sz="1400"/>
            </a:pPr>
            <a:r>
              <a:t>ReactJS + TailwindCSS cho giao diện người dùng</a:t>
            </a:r>
          </a:p>
          <a:p>
            <a:pPr>
              <a:defRPr sz="1400"/>
            </a:pPr>
            <a:r>
              <a:t>Redux Toolkit quản lý state toàn cục</a:t>
            </a:r>
          </a:p>
          <a:p>
            <a:pPr>
              <a:defRPr sz="1400"/>
            </a:pPr>
            <a:r>
              <a:t>React Router điều hướng trang</a:t>
            </a:r>
          </a:p>
          <a:p>
            <a:pPr>
              <a:defRPr sz="1400"/>
            </a:pPr>
            <a:r>
              <a:t>Tích hợp PayPal SDK</a:t>
            </a:r>
          </a:p>
          <a:p>
            <a:pPr>
              <a:defRPr sz="1400"/>
            </a:pPr>
            <a:r>
              <a:t>API Layer</a:t>
            </a:r>
          </a:p>
          <a:p>
            <a:pPr>
              <a:defRPr sz="1400"/>
            </a:pPr>
            <a:r>
              <a:t>RESTful API chuẩn REST</a:t>
            </a:r>
          </a:p>
          <a:p>
            <a:pPr>
              <a:defRPr sz="1400"/>
            </a:pPr>
            <a:r>
              <a:t>JWT Authentication bảo mật</a:t>
            </a:r>
          </a:p>
          <a:p>
            <a:pPr>
              <a:defRPr sz="1400"/>
            </a:pPr>
            <a:r>
              <a:t>Middleware xử lý request/response</a:t>
            </a:r>
          </a:p>
          <a:p>
            <a:pPr>
              <a:defRPr sz="1400"/>
            </a:pPr>
            <a:r>
              <a:t>Backend Layer</a:t>
            </a:r>
          </a:p>
          <a:p>
            <a:pPr>
              <a:defRPr sz="1400"/>
            </a:pPr>
            <a:r>
              <a:t>NestJS framework với architecture modules</a:t>
            </a:r>
          </a:p>
          <a:p>
            <a:pPr>
              <a:defRPr sz="1400"/>
            </a:pPr>
            <a:r>
              <a:t>8 modules chính: Products, Cart, Orders, Users, Payments, Blog, Wishlist, Rating</a:t>
            </a:r>
          </a:p>
          <a:p>
            <a:pPr>
              <a:defRPr sz="1400"/>
            </a:pPr>
            <a:r>
              <a:t>Sequelize ORM tương tác database</a:t>
            </a:r>
          </a:p>
          <a:p>
            <a:pPr>
              <a:defRPr sz="1400"/>
            </a:pPr>
            <a:r>
              <a:t>Database Layer</a:t>
            </a:r>
          </a:p>
          <a:p>
            <a:pPr>
              <a:defRPr sz="1400"/>
            </a:pPr>
            <a:r>
              <a:t>MySQL lưu trữ dữ liệu quan hệ</a:t>
            </a:r>
          </a:p>
          <a:p>
            <a:pPr>
              <a:defRPr sz="1400"/>
            </a:pPr>
            <a:r>
              <a:t>Cấu trúc bảng được tối ưu hóa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lgn="ctr">
              <a:defRPr sz="3200" b="1">
                <a:solidFill>
                  <a:srgbClr val="003366"/>
                </a:solidFill>
              </a:defRPr>
            </a:pPr>
            <a:r>
              <a:t>💻 Công Nghệ &amp; Tech Stack</a:t>
            </a:r>
          </a:p>
        </p:txBody>
      </p:sp>
      <p:pic>
        <p:nvPicPr>
          <p:cNvPr id="3" name="Picture 2" descr="tech_stack_visual_1769614965139.png"/>
          <p:cNvPicPr>
            <a:picLocks noChangeAspect="1"/>
          </p:cNvPicPr>
          <p:nvPr/>
        </p:nvPicPr>
        <p:blipFill>
          <a:blip r:embed="rId2"/>
          <a:stretch>
            <a:fillRect/>
          </a:stretch>
        </p:blipFill>
        <p:spPr>
          <a:xfrm>
            <a:off x="1371600" y="1371600"/>
            <a:ext cx="6400800" cy="6400800"/>
          </a:xfrm>
          <a:prstGeom prst="rect">
            <a:avLst/>
          </a:prstGeom>
        </p:spPr>
      </p:pic>
      <p:sp>
        <p:nvSpPr>
          <p:cNvPr id="4" name="TextBox 3"/>
          <p:cNvSpPr txBox="1"/>
          <p:nvPr/>
        </p:nvSpPr>
        <p:spPr>
          <a:xfrm>
            <a:off x="457200" y="5029200"/>
            <a:ext cx="8229600" cy="1371600"/>
          </a:xfrm>
          <a:prstGeom prst="rect">
            <a:avLst/>
          </a:prstGeom>
          <a:noFill/>
        </p:spPr>
        <p:txBody>
          <a:bodyPr wrap="square">
            <a:spAutoFit/>
          </a:bodyPr>
          <a:lstStyle/>
          <a:p/>
          <a:p>
            <a:pPr>
              <a:defRPr sz="1800" b="1">
                <a:solidFill>
                  <a:srgbClr val="0066CC"/>
                </a:solidFill>
              </a:defRPr>
            </a:pPr>
            <a:r>
              <a:t>Frontend Technologies</a:t>
            </a:r>
          </a:p>
          <a:p>
            <a:pPr>
              <a:defRPr sz="1400"/>
            </a:pPr>
            <a:r>
              <a:t>ReactJS 18.2 - Thư viện UI hiện đại</a:t>
            </a:r>
          </a:p>
          <a:p>
            <a:pPr>
              <a:defRPr sz="1400"/>
            </a:pPr>
            <a:r>
              <a:t>TailwindCSS 3.3 - Utility-first CSS framework</a:t>
            </a:r>
          </a:p>
          <a:p>
            <a:pPr>
              <a:defRPr sz="1400"/>
            </a:pPr>
            <a:r>
              <a:t>Redux Toolkit - State management</a:t>
            </a:r>
          </a:p>
          <a:p>
            <a:pPr>
              <a:defRPr sz="1400"/>
            </a:pPr>
            <a:r>
              <a:t>React Router v6 - Client-side routing</a:t>
            </a:r>
          </a:p>
          <a:p>
            <a:pPr>
              <a:defRPr sz="1400"/>
            </a:pPr>
            <a:r>
              <a:t>Axios - HTTP client</a:t>
            </a:r>
          </a:p>
          <a:p>
            <a:pPr>
              <a:defRPr sz="1400"/>
            </a:pPr>
            <a:r>
              <a:t>PayPal React SDK - Thanh toán online</a:t>
            </a:r>
          </a:p>
          <a:p>
            <a:pPr>
              <a:defRPr sz="1800" b="1">
                <a:solidFill>
                  <a:srgbClr val="0066CC"/>
                </a:solidFill>
              </a:defRPr>
            </a:pPr>
            <a:r>
              <a:t>Backend Technologies</a:t>
            </a:r>
          </a:p>
          <a:p>
            <a:pPr>
              <a:defRPr sz="1400"/>
            </a:pPr>
            <a:r>
              <a:t>NestJS - Progressive Node.js framework</a:t>
            </a:r>
          </a:p>
          <a:p>
            <a:pPr>
              <a:defRPr sz="1400"/>
            </a:pPr>
            <a:r>
              <a:t>TypeScript - Type-safe programming</a:t>
            </a:r>
          </a:p>
          <a:p>
            <a:pPr>
              <a:defRPr sz="1400"/>
            </a:pPr>
            <a:r>
              <a:t>Sequelize - ORM cho MySQL</a:t>
            </a:r>
          </a:p>
          <a:p>
            <a:pPr>
              <a:defRPr sz="1400"/>
            </a:pPr>
            <a:r>
              <a:t>JWT - JSON Web Tokens authentication</a:t>
            </a:r>
          </a:p>
          <a:p>
            <a:pPr>
              <a:defRPr sz="1400"/>
            </a:pPr>
            <a:r>
              <a:t>Bcrypt - Password hashing</a:t>
            </a:r>
          </a:p>
          <a:p>
            <a:pPr>
              <a:defRPr sz="1800" b="1">
                <a:solidFill>
                  <a:srgbClr val="0066CC"/>
                </a:solidFill>
              </a:defRPr>
            </a:pPr>
            <a:r>
              <a:t>Database &amp; Tools</a:t>
            </a:r>
          </a:p>
          <a:p>
            <a:pPr>
              <a:defRPr sz="1400"/>
            </a:pPr>
            <a:r>
              <a:t>MySQL - Relational database</a:t>
            </a:r>
          </a:p>
          <a:p>
            <a:pPr>
              <a:defRPr sz="1400"/>
            </a:pPr>
            <a:r>
              <a:t>Git - Version control</a:t>
            </a:r>
          </a:p>
          <a:p>
            <a:pPr>
              <a:defRPr sz="1400"/>
            </a:pPr>
            <a:r>
              <a:t>npm - Package manager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lgn="ctr">
              <a:defRPr sz="3200" b="1">
                <a:solidFill>
                  <a:srgbClr val="003366"/>
                </a:solidFill>
              </a:defRPr>
            </a:pPr>
            <a:r>
              <a:t>🌐 Giao Diện Người Dùng</a:t>
            </a:r>
          </a:p>
        </p:txBody>
      </p:sp>
      <p:pic>
        <p:nvPicPr>
          <p:cNvPr id="3" name="Picture 2" descr="gabi_store_homepage_1769614217233.png"/>
          <p:cNvPicPr>
            <a:picLocks noChangeAspect="1"/>
          </p:cNvPicPr>
          <p:nvPr/>
        </p:nvPicPr>
        <p:blipFill>
          <a:blip r:embed="rId2"/>
          <a:stretch>
            <a:fillRect/>
          </a:stretch>
        </p:blipFill>
        <p:spPr>
          <a:xfrm>
            <a:off x="1371600" y="1371600"/>
            <a:ext cx="6400800" cy="6400800"/>
          </a:xfrm>
          <a:prstGeom prst="rect">
            <a:avLst/>
          </a:prstGeom>
        </p:spPr>
      </p:pic>
      <p:sp>
        <p:nvSpPr>
          <p:cNvPr id="4" name="TextBox 3"/>
          <p:cNvSpPr txBox="1"/>
          <p:nvPr/>
        </p:nvSpPr>
        <p:spPr>
          <a:xfrm>
            <a:off x="457200" y="5029200"/>
            <a:ext cx="8229600" cy="1371600"/>
          </a:xfrm>
          <a:prstGeom prst="rect">
            <a:avLst/>
          </a:prstGeom>
          <a:noFill/>
        </p:spPr>
        <p:txBody>
          <a:bodyPr wrap="square">
            <a:spAutoFit/>
          </a:bodyPr>
          <a:lstStyle/>
          <a:p/>
          <a:p>
            <a:pPr>
              <a:defRPr sz="1800" b="1">
                <a:solidFill>
                  <a:srgbClr val="0066CC"/>
                </a:solidFill>
              </a:defRPr>
            </a:pPr>
            <a:r>
              <a:t>Tính Năng Chính</a:t>
            </a:r>
          </a:p>
          <a:p>
            <a:pPr>
              <a:defRPr sz="1400"/>
            </a:pPr>
            <a:r>
              <a:t>Trang Chủ</a:t>
            </a:r>
          </a:p>
          <a:p>
            <a:pPr>
              <a:defRPr sz="1400"/>
            </a:pPr>
            <a:r>
              <a:t>Hero banner với collection mới nhất</a:t>
            </a:r>
          </a:p>
          <a:p>
            <a:pPr>
              <a:defRPr sz="1400"/>
            </a:pPr>
            <a:r>
              <a:t>Danh mục sản phẩm (carousel)</a:t>
            </a:r>
          </a:p>
          <a:p>
            <a:pPr>
              <a:defRPr sz="1400"/>
            </a:pPr>
            <a:r>
              <a:t>Sản phẩm nổi bật</a:t>
            </a:r>
          </a:p>
          <a:p>
            <a:pPr>
              <a:defRPr sz="1400"/>
            </a:pPr>
            <a:r>
              <a:t>Tìm kiếm thông minh</a:t>
            </a:r>
          </a:p>
          <a:p>
            <a:pPr>
              <a:defRPr sz="1400"/>
            </a:pPr>
            <a:r>
              <a:t>Xem Sản Phẩm</a:t>
            </a:r>
          </a:p>
          <a:p>
            <a:pPr>
              <a:defRPr sz="1400"/>
            </a:pPr>
            <a:r>
              <a:t>Lọc theo danh mục, giá, thương hiệu</a:t>
            </a:r>
          </a:p>
          <a:p>
            <a:pPr>
              <a:defRPr sz="1400"/>
            </a:pPr>
            <a:r>
              <a:t>Xem chi tiết đầy đủ</a:t>
            </a:r>
          </a:p>
          <a:p>
            <a:pPr>
              <a:defRPr sz="1400"/>
            </a:pPr>
            <a:r>
              <a:t>Hình ảnh sản phẩm chất lượng cao</a:t>
            </a:r>
          </a:p>
          <a:p>
            <a:pPr>
              <a:defRPr sz="1400"/>
            </a:pPr>
            <a:r>
              <a:t>Đánh giá &amp; rating từ người dùng</a:t>
            </a:r>
          </a:p>
          <a:p>
            <a:pPr>
              <a:defRPr sz="1400"/>
            </a:pPr>
            <a:r>
              <a:t>Giỏ Hàng</a:t>
            </a:r>
          </a:p>
          <a:p>
            <a:pPr>
              <a:defRPr sz="1400"/>
            </a:pPr>
            <a:r>
              <a:t>Thêm/sửa/xóa sản phẩm</a:t>
            </a:r>
          </a:p>
          <a:p>
            <a:pPr>
              <a:defRPr sz="1400"/>
            </a:pPr>
            <a:r>
              <a:t>Cập nhật số lượng real-time</a:t>
            </a:r>
          </a:p>
          <a:p>
            <a:pPr>
              <a:defRPr sz="1400"/>
            </a:pPr>
            <a:r>
              <a:t>Tính tổng tiền tự động</a:t>
            </a:r>
          </a:p>
          <a:p>
            <a:pPr>
              <a:defRPr sz="1400"/>
            </a:pPr>
            <a:r>
              <a:t>Mã giảm giá (nếu có)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Chức Năng Khách Hàng</a:t>
            </a:r>
          </a:p>
        </p:txBody>
      </p:sp>
      <p:sp>
        <p:nvSpPr>
          <p:cNvPr id="3" name="Content Placeholder 2"/>
          <p:cNvSpPr>
            <a:spLocks noGrp="1"/>
          </p:cNvSpPr>
          <p:nvPr>
            <p:ph idx="1"/>
          </p:nvPr>
        </p:nvSpPr>
        <p:spPr/>
        <p:txBody>
          <a:bodyPr wrap="square"/>
          <a:lstStyle/>
          <a:p/>
          <a:p>
            <a:pPr>
              <a:defRPr sz="1800" b="1">
                <a:solidFill>
                  <a:srgbClr val="0066CC"/>
                </a:solidFill>
              </a:defRPr>
            </a:pPr>
            <a:r>
              <a:t>Quy Trình Mua Hàng</a:t>
            </a:r>
          </a:p>
          <a:p>
            <a:pPr>
              <a:defRPr sz="1400"/>
            </a:pPr>
            <a:r>
              <a:t>1. Duyệt &amp; Chọn Sản Phẩm</a:t>
            </a:r>
          </a:p>
          <a:p>
            <a:pPr>
              <a:defRPr sz="1400"/>
            </a:pPr>
            <a:r>
              <a:t>Xem catalog sản phẩm</a:t>
            </a:r>
          </a:p>
          <a:p>
            <a:pPr>
              <a:defRPr sz="1400"/>
            </a:pPr>
            <a:r>
              <a:t>Tìm kiếm &amp; lọc nâng cao</a:t>
            </a:r>
          </a:p>
          <a:p>
            <a:pPr>
              <a:defRPr sz="1400"/>
            </a:pPr>
            <a:r>
              <a:t>Xem chi tiết sản phẩm</a:t>
            </a:r>
          </a:p>
          <a:p>
            <a:pPr>
              <a:defRPr sz="1400"/>
            </a:pPr>
            <a:r>
              <a:t>2. Quản Lý Giỏ Hàng</a:t>
            </a:r>
          </a:p>
          <a:p>
            <a:pPr>
              <a:defRPr sz="1400"/>
            </a:pPr>
            <a:r>
              <a:t>Thêm sản phẩm vào giỏ</a:t>
            </a:r>
          </a:p>
          <a:p>
            <a:pPr>
              <a:defRPr sz="1400"/>
            </a:pPr>
            <a:r>
              <a:t>Điều chỉnh số lượng</a:t>
            </a:r>
          </a:p>
          <a:p>
            <a:pPr>
              <a:defRPr sz="1400"/>
            </a:pPr>
            <a:r>
              <a:t>Xóa sản phẩm không cần</a:t>
            </a:r>
          </a:p>
          <a:p>
            <a:pPr>
              <a:defRPr sz="1400"/>
            </a:pPr>
            <a:r>
              <a:t>3. Đặt Hàng &amp; Thanh Toán</a:t>
            </a:r>
          </a:p>
          <a:p>
            <a:pPr>
              <a:defRPr sz="1400"/>
            </a:pPr>
            <a:r>
              <a:t>Nhập thông tin giao hàng</a:t>
            </a:r>
          </a:p>
          <a:p>
            <a:pPr>
              <a:defRPr sz="1400"/>
            </a:pPr>
            <a:r>
              <a:t>Chọn phương thức thanh toán</a:t>
            </a:r>
          </a:p>
          <a:p>
            <a:pPr>
              <a:defRPr sz="1400"/>
            </a:pPr>
            <a:r>
              <a:t>Thanh toán qua PayPal</a:t>
            </a:r>
          </a:p>
          <a:p>
            <a:pPr>
              <a:defRPr sz="1400"/>
            </a:pPr>
            <a:r>
              <a:t>Nhận email xác nhận</a:t>
            </a:r>
          </a:p>
          <a:p>
            <a:pPr>
              <a:defRPr sz="1400"/>
            </a:pPr>
            <a:r>
              <a:t>4. Theo Dõi Đơn Hàng</a:t>
            </a:r>
          </a:p>
          <a:p>
            <a:pPr>
              <a:defRPr sz="1400"/>
            </a:pPr>
            <a:r>
              <a:t>Xem lịch sử mua hàng</a:t>
            </a:r>
          </a:p>
          <a:p>
            <a:pPr>
              <a:defRPr sz="1400"/>
            </a:pPr>
            <a:r>
              <a:t>Kiểm tra trạng thái đơn</a:t>
            </a:r>
          </a:p>
          <a:p>
            <a:pPr>
              <a:defRPr sz="1400"/>
            </a:pPr>
            <a:r>
              <a:t>Đánh giá sản phẩm đã mua</a:t>
            </a:r>
          </a:p>
          <a:p>
            <a:pPr>
              <a:defRPr sz="1800" b="1">
                <a:solidFill>
                  <a:srgbClr val="0066CC"/>
                </a:solidFill>
              </a:defRPr>
            </a:pPr>
            <a:r>
              <a:t>Tính Năng Bổ Sung</a:t>
            </a:r>
          </a:p>
          <a:p>
            <a:pPr>
              <a:defRPr sz="1400"/>
            </a:pPr>
            <a:r>
              <a:t>💝 Wishlist - Lưu sản phẩm yêu thích</a:t>
            </a:r>
          </a:p>
          <a:p>
            <a:pPr>
              <a:defRPr sz="1400"/>
            </a:pPr>
            <a:r>
              <a:t>⭐ Rating - Đánh giá sản phẩm</a:t>
            </a:r>
          </a:p>
          <a:p>
            <a:pPr>
              <a:defRPr sz="1400"/>
            </a:pPr>
            <a:r>
              <a:t>🔔 Blog - Đọc tin tức, khuyến mãi</a:t>
            </a:r>
          </a:p>
          <a:p>
            <a:pPr>
              <a:defRPr sz="1400"/>
            </a:pPr>
            <a:r>
              <a:t>👤 Profile - Quản lý tài khoản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lgn="ctr">
              <a:defRPr sz="3200" b="1">
                <a:solidFill>
                  <a:srgbClr val="003366"/>
                </a:solidFill>
              </a:defRPr>
            </a:pPr>
            <a:r>
              <a:t>💳 Luồng Thanh Toán</a:t>
            </a:r>
          </a:p>
        </p:txBody>
      </p:sp>
      <p:pic>
        <p:nvPicPr>
          <p:cNvPr id="3" name="Picture 2" descr="payment_flow_diagram_1769614663976.png"/>
          <p:cNvPicPr>
            <a:picLocks noChangeAspect="1"/>
          </p:cNvPicPr>
          <p:nvPr/>
        </p:nvPicPr>
        <p:blipFill>
          <a:blip r:embed="rId2"/>
          <a:stretch>
            <a:fillRect/>
          </a:stretch>
        </p:blipFill>
        <p:spPr>
          <a:xfrm>
            <a:off x="1371600" y="1371600"/>
            <a:ext cx="6400800" cy="6400800"/>
          </a:xfrm>
          <a:prstGeom prst="rect">
            <a:avLst/>
          </a:prstGeom>
        </p:spPr>
      </p:pic>
      <p:sp>
        <p:nvSpPr>
          <p:cNvPr id="4" name="TextBox 3"/>
          <p:cNvSpPr txBox="1"/>
          <p:nvPr/>
        </p:nvSpPr>
        <p:spPr>
          <a:xfrm>
            <a:off x="457200" y="5029200"/>
            <a:ext cx="8229600" cy="1371600"/>
          </a:xfrm>
          <a:prstGeom prst="rect">
            <a:avLst/>
          </a:prstGeom>
          <a:noFill/>
        </p:spPr>
        <p:txBody>
          <a:bodyPr wrap="square">
            <a:spAutoFit/>
          </a:bodyPr>
          <a:lstStyle/>
          <a:p/>
          <a:p>
            <a:pPr>
              <a:defRPr sz="1800" b="1">
                <a:solidFill>
                  <a:srgbClr val="0066CC"/>
                </a:solidFill>
              </a:defRPr>
            </a:pPr>
            <a:r>
              <a:t>Chi Tiết Quy Trình</a:t>
            </a:r>
          </a:p>
          <a:p>
            <a:pPr>
              <a:defRPr sz="1400"/>
            </a:pPr>
            <a:r>
              <a:t>Bước 1: Khách hàng chọn sản phẩm</a:t>
            </a:r>
          </a:p>
          <a:p>
            <a:pPr>
              <a:defRPr sz="1400"/>
            </a:pPr>
            <a:r>
              <a:t>Browse products → Add to cart → Checkout</a:t>
            </a:r>
          </a:p>
          <a:p>
            <a:pPr>
              <a:defRPr sz="1400"/>
            </a:pPr>
            <a:r>
              <a:t>Bước 2: Chọn phương thức thanh toán</a:t>
            </a:r>
          </a:p>
          <a:p>
            <a:pPr>
              <a:defRPr sz="1400"/>
            </a:pPr>
            <a:r>
              <a:t>PayPal (tích hợp sẵn)</a:t>
            </a:r>
          </a:p>
          <a:p>
            <a:pPr>
              <a:defRPr sz="1400"/>
            </a:pPr>
            <a:r>
              <a:t>Các phương thức khác (mở rộng sau)</a:t>
            </a:r>
          </a:p>
          <a:p>
            <a:pPr>
              <a:defRPr sz="1400"/>
            </a:pPr>
            <a:r>
              <a:t>Bước 3: Xử lý thanh toán</a:t>
            </a:r>
          </a:p>
          <a:p>
            <a:pPr>
              <a:defRPr sz="1400"/>
            </a:pPr>
            <a:r>
              <a:t>Gọi PayPal API</a:t>
            </a:r>
          </a:p>
          <a:p>
            <a:pPr>
              <a:defRPr sz="1400"/>
            </a:pPr>
            <a:r>
              <a:t>Xác thực giao dịch</a:t>
            </a:r>
          </a:p>
          <a:p>
            <a:pPr>
              <a:defRPr sz="1400"/>
            </a:pPr>
            <a:r>
              <a:t>Nhận thông báo kết quả</a:t>
            </a:r>
          </a:p>
          <a:p>
            <a:pPr>
              <a:defRPr sz="1400"/>
            </a:pPr>
            <a:r>
              <a:t>Bước 4: Xử lý kết quả</a:t>
            </a:r>
          </a:p>
          <a:p>
            <a:pPr>
              <a:defRPr sz="1400"/>
            </a:pPr>
            <a:r>
              <a:t>✅ Thành công: Tạo đơn hàng → Gửi email xác nhận → Hoàn tất</a:t>
            </a:r>
          </a:p>
          <a:p>
            <a:pPr>
              <a:defRPr sz="1400"/>
            </a:pPr>
            <a:r>
              <a:t>❌ Thất bại: Quay lại chọn phương thức → Thử lại</a:t>
            </a:r>
          </a:p>
          <a:p>
            <a:pPr>
              <a:defRPr sz="1800" b="1">
                <a:solidFill>
                  <a:srgbClr val="0066CC"/>
                </a:solidFill>
              </a:defRPr>
            </a:pPr>
            <a:r>
              <a:t>Bảo Mật</a:t>
            </a:r>
          </a:p>
          <a:p>
            <a:pPr>
              <a:defRPr sz="1400"/>
            </a:pPr>
            <a:r>
              <a:t>HTTPS cho mọi giao dịch</a:t>
            </a:r>
          </a:p>
          <a:p>
            <a:pPr>
              <a:defRPr sz="1400"/>
            </a:pPr>
            <a:r>
              <a:t>PayPal SDK chính thức</a:t>
            </a:r>
          </a:p>
          <a:p>
            <a:pPr>
              <a:defRPr sz="1400"/>
            </a:pPr>
            <a:r>
              <a:t>Không lưu trữ thông tin thẻ</a:t>
            </a:r>
          </a:p>
          <a:p>
            <a:pPr>
              <a:defRPr sz="1400"/>
            </a:pPr>
            <a:r>
              <a:t>JWT token cho authentication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731520"/>
          </a:xfrm>
          <a:prstGeom prst="rect">
            <a:avLst/>
          </a:prstGeom>
          <a:noFill/>
        </p:spPr>
        <p:txBody>
          <a:bodyPr wrap="none">
            <a:spAutoFit/>
          </a:bodyPr>
          <a:lstStyle/>
          <a:p>
            <a:pPr algn="ctr">
              <a:defRPr sz="3200" b="1">
                <a:solidFill>
                  <a:srgbClr val="003366"/>
                </a:solidFill>
              </a:defRPr>
            </a:pPr>
            <a:r>
              <a:t>🎛️ Giao Diện Quản Trị</a:t>
            </a:r>
          </a:p>
        </p:txBody>
      </p:sp>
      <p:pic>
        <p:nvPicPr>
          <p:cNvPr id="3" name="Picture 2" descr="gabi_admin_dashboard_1769614471517.png"/>
          <p:cNvPicPr>
            <a:picLocks noChangeAspect="1"/>
          </p:cNvPicPr>
          <p:nvPr/>
        </p:nvPicPr>
        <p:blipFill>
          <a:blip r:embed="rId2"/>
          <a:stretch>
            <a:fillRect/>
          </a:stretch>
        </p:blipFill>
        <p:spPr>
          <a:xfrm>
            <a:off x="1371600" y="1371600"/>
            <a:ext cx="6400800" cy="6400800"/>
          </a:xfrm>
          <a:prstGeom prst="rect">
            <a:avLst/>
          </a:prstGeom>
        </p:spPr>
      </p:pic>
      <p:sp>
        <p:nvSpPr>
          <p:cNvPr id="4" name="TextBox 3"/>
          <p:cNvSpPr txBox="1"/>
          <p:nvPr/>
        </p:nvSpPr>
        <p:spPr>
          <a:xfrm>
            <a:off x="457200" y="5029200"/>
            <a:ext cx="8229600" cy="1371600"/>
          </a:xfrm>
          <a:prstGeom prst="rect">
            <a:avLst/>
          </a:prstGeom>
          <a:noFill/>
        </p:spPr>
        <p:txBody>
          <a:bodyPr wrap="square">
            <a:spAutoFit/>
          </a:bodyPr>
          <a:lstStyle/>
          <a:p/>
          <a:p>
            <a:pPr>
              <a:defRPr sz="1800" b="1">
                <a:solidFill>
                  <a:srgbClr val="0066CC"/>
                </a:solidFill>
              </a:defRPr>
            </a:pPr>
            <a:r>
              <a:t>Dashboard Tổng Quan</a:t>
            </a:r>
          </a:p>
          <a:p>
            <a:pPr>
              <a:defRPr sz="1400"/>
            </a:pPr>
            <a:r>
              <a:t>Thống Kê Chính</a:t>
            </a:r>
          </a:p>
          <a:p>
            <a:pPr>
              <a:defRPr sz="1400"/>
            </a:pPr>
            <a:r>
              <a:t>💰 Total Revenue - Doanh thu tổng</a:t>
            </a:r>
          </a:p>
          <a:p>
            <a:pPr>
              <a:defRPr sz="1400"/>
            </a:pPr>
            <a:r>
              <a:t>📦 Total Orders - Số đơn hàng</a:t>
            </a:r>
          </a:p>
          <a:p>
            <a:pPr>
              <a:defRPr sz="1400"/>
            </a:pPr>
            <a:r>
              <a:t>👥 Active Users - Người dùng hoạt động</a:t>
            </a:r>
          </a:p>
          <a:p>
            <a:pPr>
              <a:defRPr sz="1400"/>
            </a:pPr>
            <a:r>
              <a:t>🏷️ Products - Số sản phẩm</a:t>
            </a:r>
          </a:p>
          <a:p>
            <a:pPr>
              <a:defRPr sz="1400"/>
            </a:pPr>
            <a:r>
              <a:t>Biểu Đồ</a:t>
            </a:r>
          </a:p>
          <a:p>
            <a:pPr>
              <a:defRPr sz="1400"/>
            </a:pPr>
            <a:r>
              <a:t>Sales Overview (doanh thu theo tháng)</a:t>
            </a:r>
          </a:p>
          <a:p>
            <a:pPr>
              <a:defRPr sz="1400"/>
            </a:pPr>
            <a:r>
              <a:t>Xu hướng tăng trưởng</a:t>
            </a:r>
          </a:p>
          <a:p>
            <a:pPr>
              <a:defRPr sz="1400"/>
            </a:pPr>
            <a:r>
              <a:t>So sánh theo thời gian</a:t>
            </a:r>
          </a:p>
          <a:p>
            <a:pPr>
              <a:defRPr sz="1400"/>
            </a:pPr>
            <a:r>
              <a:t>Recent Orders</a:t>
            </a:r>
          </a:p>
          <a:p>
            <a:pPr>
              <a:defRPr sz="1400"/>
            </a:pPr>
            <a:r>
              <a:t>Danh sách đơn hàng gần nhất</a:t>
            </a:r>
          </a:p>
          <a:p>
            <a:pPr>
              <a:defRPr sz="1400"/>
            </a:pPr>
            <a:r>
              <a:t>Trạng thái: Pending, Shipped, Delivered</a:t>
            </a:r>
          </a:p>
          <a:p>
            <a:pPr>
              <a:defRPr sz="1400"/>
            </a:pPr>
            <a:r>
              <a:t>Actions: View, Edit đơn hàng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Chức Năng Quản Trị</a:t>
            </a:r>
          </a:p>
        </p:txBody>
      </p:sp>
      <p:sp>
        <p:nvSpPr>
          <p:cNvPr id="3" name="Content Placeholder 2"/>
          <p:cNvSpPr>
            <a:spLocks noGrp="1"/>
          </p:cNvSpPr>
          <p:nvPr>
            <p:ph idx="1"/>
          </p:nvPr>
        </p:nvSpPr>
        <p:spPr/>
        <p:txBody>
          <a:bodyPr wrap="square"/>
          <a:lstStyle/>
          <a:p/>
          <a:p>
            <a:pPr>
              <a:defRPr sz="1800" b="1">
                <a:solidFill>
                  <a:srgbClr val="0066CC"/>
                </a:solidFill>
              </a:defRPr>
            </a:pPr>
            <a:r>
              <a:t>Quản Lý Sản Phẩm</a:t>
            </a:r>
          </a:p>
          <a:p>
            <a:pPr>
              <a:defRPr sz="1400"/>
            </a:pPr>
            <a:r>
              <a:t>➕ Thêm mới sản phẩm với đầy đủ thông tin</a:t>
            </a:r>
          </a:p>
          <a:p>
            <a:pPr>
              <a:defRPr sz="1400"/>
            </a:pPr>
            <a:r>
              <a:t>✏️ Chỉnh sửa thông tin, giá cả, hình ảnh</a:t>
            </a:r>
          </a:p>
          <a:p>
            <a:pPr>
              <a:defRPr sz="1400"/>
            </a:pPr>
            <a:r>
              <a:t>🗑️ Xóa sản phẩm không còn kinh doanh</a:t>
            </a:r>
          </a:p>
          <a:p>
            <a:pPr>
              <a:defRPr sz="1400"/>
            </a:pPr>
            <a:r>
              <a:t>📊 Quản lý tồn kho - cập nhật số lượng</a:t>
            </a:r>
          </a:p>
          <a:p>
            <a:pPr>
              <a:defRPr sz="1400"/>
            </a:pPr>
            <a:r>
              <a:t>🏷️ Phân loại theo danh mục, thương hiệu</a:t>
            </a:r>
          </a:p>
          <a:p>
            <a:pPr>
              <a:defRPr sz="1800" b="1">
                <a:solidFill>
                  <a:srgbClr val="0066CC"/>
                </a:solidFill>
              </a:defRPr>
            </a:pPr>
            <a:r>
              <a:t>Quản Lý Đơn Hàng</a:t>
            </a:r>
          </a:p>
          <a:p>
            <a:pPr>
              <a:defRPr sz="1400"/>
            </a:pPr>
            <a:r>
              <a:t>📋 Xem danh sách tất cả đơn hàng</a:t>
            </a:r>
          </a:p>
          <a:p>
            <a:pPr>
              <a:defRPr sz="1400"/>
            </a:pPr>
            <a:r>
              <a:t>🔄 Cập nhật trạng thái:</a:t>
            </a:r>
          </a:p>
          <a:p>
            <a:pPr>
              <a:defRPr sz="1400"/>
            </a:pPr>
            <a:r>
              <a:t>Chờ xử lý → Đang giao → Hoàn thành</a:t>
            </a:r>
          </a:p>
          <a:p>
            <a:pPr>
              <a:defRPr sz="1400"/>
            </a:pPr>
            <a:r>
              <a:t>📧 Thông báo cho khách hàng</a:t>
            </a:r>
          </a:p>
          <a:p>
            <a:pPr>
              <a:defRPr sz="1400"/>
            </a:pPr>
            <a:r>
              <a:t>🚫 Hủy đơn (nếu cần)</a:t>
            </a:r>
          </a:p>
          <a:p>
            <a:pPr>
              <a:defRPr sz="1400"/>
            </a:pPr>
            <a:r>
              <a:t>📊 Báo cáo doanh thu</a:t>
            </a:r>
          </a:p>
          <a:p>
            <a:pPr>
              <a:defRPr sz="1800" b="1">
                <a:solidFill>
                  <a:srgbClr val="0066CC"/>
                </a:solidFill>
              </a:defRPr>
            </a:pPr>
            <a:r>
              <a:t>Quản Lý Người Dùng</a:t>
            </a:r>
          </a:p>
          <a:p>
            <a:pPr>
              <a:defRPr sz="1400"/>
            </a:pPr>
            <a:r>
              <a:t>👥 Danh sách người dùng</a:t>
            </a:r>
          </a:p>
          <a:p>
            <a:pPr>
              <a:defRPr sz="1400"/>
            </a:pPr>
            <a:r>
              <a:t>🔒 Khóa/mở khóa tài khoản</a:t>
            </a:r>
          </a:p>
          <a:p>
            <a:pPr>
              <a:defRPr sz="1400"/>
            </a:pPr>
            <a:r>
              <a:t>👑 Phân quyền (user, admin)</a:t>
            </a:r>
          </a:p>
          <a:p>
            <a:pPr>
              <a:defRPr sz="1400"/>
            </a:pPr>
            <a:r>
              <a:t>📊 Xem lịch sử mua hàng của user</a:t>
            </a:r>
          </a:p>
          <a:p>
            <a:pPr>
              <a:defRPr sz="1800" b="1">
                <a:solidFill>
                  <a:srgbClr val="0066CC"/>
                </a:solidFill>
              </a:defRPr>
            </a:pPr>
            <a:r>
              <a:t>Quản Lý Nội Dung</a:t>
            </a:r>
          </a:p>
          <a:p>
            <a:pPr>
              <a:defRPr sz="1400"/>
            </a:pPr>
            <a:r>
              <a:t>📝 Blog posts - tin tức, khuyến mãi</a:t>
            </a:r>
          </a:p>
          <a:p>
            <a:pPr>
              <a:defRPr sz="1400"/>
            </a:pPr>
            <a:r>
              <a:t>🏷️ Categories - danh mục sản phẩm</a:t>
            </a:r>
          </a:p>
          <a:p>
            <a:pPr>
              <a:defRPr sz="1400"/>
            </a:pPr>
            <a:r>
              <a:t>🏢 Brands - thương hiệu</a:t>
            </a:r>
          </a:p>
          <a:p>
            <a:pPr>
              <a:defRPr sz="1400"/>
            </a:pPr>
            <a:r>
              <a:t>💬 Comments - bình luận, đánh giá</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Bảo Mật &amp; Xác Thực</a:t>
            </a:r>
          </a:p>
        </p:txBody>
      </p:sp>
      <p:sp>
        <p:nvSpPr>
          <p:cNvPr id="3" name="Content Placeholder 2"/>
          <p:cNvSpPr>
            <a:spLocks noGrp="1"/>
          </p:cNvSpPr>
          <p:nvPr>
            <p:ph idx="1"/>
          </p:nvPr>
        </p:nvSpPr>
        <p:spPr/>
        <p:txBody>
          <a:bodyPr wrap="square"/>
          <a:lstStyle/>
          <a:p/>
          <a:p>
            <a:pPr>
              <a:defRPr sz="1800" b="1">
                <a:solidFill>
                  <a:srgbClr val="0066CC"/>
                </a:solidFill>
              </a:defRPr>
            </a:pPr>
            <a:r>
              <a:t>Authentication Flow</a:t>
            </a:r>
          </a:p>
          <a:p>
            <a:pPr>
              <a:defRPr sz="1400"/>
            </a:pPr>
            <a:r>
              <a:t>`</a:t>
            </a:r>
          </a:p>
          <a:p>
            <a:pPr>
              <a:defRPr sz="1400"/>
            </a:pPr>
            <a:r>
              <a:t>User Login → Validate Credentials → Generate JWT → Store in Cookie/LocalStorage</a:t>
            </a:r>
          </a:p>
          <a:p>
            <a:pPr>
              <a:defRPr sz="1400"/>
            </a:pPr>
            <a:r>
              <a:t>↓</a:t>
            </a:r>
          </a:p>
          <a:p>
            <a:pPr>
              <a:defRPr sz="1400"/>
            </a:pPr>
            <a:r>
              <a:t>Protected Routes → Verify JWT → Allow/Deny Access</a:t>
            </a:r>
          </a:p>
          <a:p>
            <a:pPr>
              <a:defRPr sz="1400"/>
            </a:pPr>
            <a:r>
              <a:t>`</a:t>
            </a:r>
          </a:p>
          <a:p>
            <a:pPr>
              <a:defRPr sz="1800" b="1">
                <a:solidFill>
                  <a:srgbClr val="0066CC"/>
                </a:solidFill>
              </a:defRPr>
            </a:pPr>
            <a:r>
              <a:t>Security Features</a:t>
            </a:r>
          </a:p>
          <a:p>
            <a:pPr>
              <a:defRPr sz="1400"/>
            </a:pPr>
            <a:r>
              <a:t>🔑 JWT Tokens - Stateless authentication</a:t>
            </a:r>
          </a:p>
          <a:p>
            <a:pPr>
              <a:defRPr sz="1400"/>
            </a:pPr>
            <a:r>
              <a:t>🔒 Bcrypt Password Hashing - Mã hóa mật khẩu</a:t>
            </a:r>
          </a:p>
          <a:p>
            <a:pPr>
              <a:defRPr sz="1400"/>
            </a:pPr>
            <a:r>
              <a:t>🛡️ Role-Based Access Control - Phân quyền theo vai trò</a:t>
            </a:r>
          </a:p>
          <a:p>
            <a:pPr>
              <a:defRPr sz="1400"/>
            </a:pPr>
            <a:r>
              <a:t>🚪 Protected Routes - Route guards</a:t>
            </a:r>
          </a:p>
          <a:p>
            <a:pPr>
              <a:defRPr sz="1400"/>
            </a:pPr>
            <a:r>
              <a:t>🔄 Token Refresh - Tự động gia hạn session</a:t>
            </a:r>
          </a:p>
          <a:p>
            <a:pPr>
              <a:defRPr sz="1400"/>
            </a:pPr>
            <a:r>
              <a:t>⏱️ Session Timeout - Timeout tự động</a:t>
            </a:r>
          </a:p>
          <a:p>
            <a:pPr>
              <a:defRPr sz="1800" b="1">
                <a:solidFill>
                  <a:srgbClr val="0066CC"/>
                </a:solidFill>
              </a:defRPr>
            </a:pPr>
            <a:r>
              <a:t>Data Protection</a:t>
            </a:r>
          </a:p>
          <a:p>
            <a:pPr>
              <a:defRPr sz="1400"/>
            </a:pPr>
            <a:r>
              <a:t>✅ Input validation và sanitization</a:t>
            </a:r>
          </a:p>
          <a:p>
            <a:pPr>
              <a:defRPr sz="1400"/>
            </a:pPr>
            <a:r>
              <a:t>✅ SQL injection prevention (Sequelize ORM)</a:t>
            </a:r>
          </a:p>
          <a:p>
            <a:pPr>
              <a:defRPr sz="1400"/>
            </a:pPr>
            <a:r>
              <a:t>✅ XSS protection</a:t>
            </a:r>
          </a:p>
          <a:p>
            <a:pPr>
              <a:defRPr sz="1400"/>
            </a:pPr>
            <a:r>
              <a:t>✅ CORS configuration</a:t>
            </a:r>
          </a:p>
          <a:p>
            <a:pPr>
              <a:defRPr sz="1400"/>
            </a:pPr>
            <a:r>
              <a:t>✅ HTTPS enforcement (production)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Cấu Trúc Dự Án</a:t>
            </a:r>
          </a:p>
        </p:txBody>
      </p:sp>
      <p:sp>
        <p:nvSpPr>
          <p:cNvPr id="3" name="Content Placeholder 2"/>
          <p:cNvSpPr>
            <a:spLocks noGrp="1"/>
          </p:cNvSpPr>
          <p:nvPr>
            <p:ph idx="1"/>
          </p:nvPr>
        </p:nvSpPr>
        <p:spPr/>
        <p:txBody>
          <a:bodyPr wrap="square"/>
          <a:lstStyle/>
          <a:p/>
          <a:p>
            <a:pPr>
              <a:defRPr sz="1800" b="1">
                <a:solidFill>
                  <a:srgbClr val="0066CC"/>
                </a:solidFill>
              </a:defRPr>
            </a:pPr>
            <a:r>
              <a:t>Frontend Structure</a:t>
            </a:r>
          </a:p>
          <a:p>
            <a:pPr>
              <a:defRPr sz="1400"/>
            </a:pPr>
            <a:r>
              <a:t>`</a:t>
            </a:r>
          </a:p>
          <a:p>
            <a:pPr>
              <a:defRPr sz="1400"/>
            </a:pPr>
            <a:r>
              <a:t>frontend/</a:t>
            </a:r>
          </a:p>
          <a:p>
            <a:pPr>
              <a:defRPr sz="1400"/>
            </a:pPr>
            <a:r>
              <a:t>├── src/</a:t>
            </a:r>
          </a:p>
          <a:p>
            <a:pPr>
              <a:defRPr sz="1400"/>
            </a:pPr>
            <a:r>
              <a:t>│   ├── components/     # Reusable components</a:t>
            </a:r>
          </a:p>
          <a:p>
            <a:pPr>
              <a:defRPr sz="1400"/>
            </a:pPr>
            <a:r>
              <a:t>│   ├── pages/          # Page components</a:t>
            </a:r>
          </a:p>
          <a:p>
            <a:pPr>
              <a:defRPr sz="1400"/>
            </a:pPr>
            <a:r>
              <a:t>│   │   ├── public/    # Public pages (Home, Products)</a:t>
            </a:r>
          </a:p>
          <a:p>
            <a:pPr>
              <a:defRPr sz="1400"/>
            </a:pPr>
            <a:r>
              <a:t>│   │   └── admin/     # Admin pages (Dashboard)</a:t>
            </a:r>
          </a:p>
          <a:p>
            <a:pPr>
              <a:defRPr sz="1400"/>
            </a:pPr>
            <a:r>
              <a:t>│   ├── layouts/        # Layout components</a:t>
            </a:r>
          </a:p>
          <a:p>
            <a:pPr>
              <a:defRPr sz="1400"/>
            </a:pPr>
            <a:r>
              <a:t>│   ├── redux/          # Redux store &amp; slices</a:t>
            </a:r>
          </a:p>
          <a:p>
            <a:pPr>
              <a:defRPr sz="1400"/>
            </a:pPr>
            <a:r>
              <a:t>│   ├── routes/         # Route configuration</a:t>
            </a:r>
          </a:p>
          <a:p>
            <a:pPr>
              <a:defRPr sz="1400"/>
            </a:pPr>
            <a:r>
              <a:t>│   ├── hooks/          # Custom hooks</a:t>
            </a:r>
          </a:p>
          <a:p>
            <a:pPr>
              <a:defRPr sz="1400"/>
            </a:pPr>
            <a:r>
              <a:t>│   └── app/            # App config &amp; API</a:t>
            </a:r>
          </a:p>
          <a:p>
            <a:pPr>
              <a:defRPr sz="1400"/>
            </a:pPr>
            <a:r>
              <a:t>├── public/             # Static assets</a:t>
            </a:r>
          </a:p>
          <a:p>
            <a:pPr>
              <a:defRPr sz="1400"/>
            </a:pPr>
            <a:r>
              <a:t>└── package.json</a:t>
            </a:r>
          </a:p>
          <a:p>
            <a:pPr>
              <a:defRPr sz="1400"/>
            </a:pPr>
            <a:r>
              <a:t>`</a:t>
            </a:r>
          </a:p>
          <a:p>
            <a:pPr>
              <a:defRPr sz="1800" b="1">
                <a:solidFill>
                  <a:srgbClr val="0066CC"/>
                </a:solidFill>
              </a:defRPr>
            </a:pPr>
            <a:r>
              <a:t>Backend Structure</a:t>
            </a:r>
          </a:p>
          <a:p>
            <a:pPr>
              <a:defRPr sz="1400"/>
            </a:pPr>
            <a:r>
              <a:t>`</a:t>
            </a:r>
          </a:p>
          <a:p>
            <a:pPr>
              <a:defRPr sz="1400"/>
            </a:pPr>
            <a:r>
              <a:t>backend/</a:t>
            </a:r>
          </a:p>
          <a:p>
            <a:pPr>
              <a:defRPr sz="1400"/>
            </a:pPr>
            <a:r>
              <a:t>├── src/</a:t>
            </a:r>
          </a:p>
          <a:p>
            <a:pPr>
              <a:defRPr sz="1400"/>
            </a:pPr>
            <a:r>
              <a:t>│   ├── auth/           # Authentication module</a:t>
            </a:r>
          </a:p>
          <a:p>
            <a:pPr>
              <a:defRPr sz="1400"/>
            </a:pPr>
            <a:r>
              <a:t>│   ├── user/           # User management</a:t>
            </a:r>
          </a:p>
          <a:p>
            <a:pPr>
              <a:defRPr sz="1400"/>
            </a:pPr>
            <a:r>
              <a:t>│   ├── product/        # Product CRUD</a:t>
            </a:r>
          </a:p>
          <a:p>
            <a:pPr>
              <a:defRPr sz="1400"/>
            </a:pPr>
            <a:r>
              <a:t>│   ├── category/       # Category management</a:t>
            </a:r>
          </a:p>
          <a:p>
            <a:pPr>
              <a:defRPr sz="1400"/>
            </a:pPr>
            <a:r>
              <a:t>│   ├── brand/          # Brand management</a:t>
            </a:r>
          </a:p>
          <a:p>
            <a:pPr>
              <a:defRPr sz="1400"/>
            </a:pPr>
            <a:r>
              <a:t>│   ├── bill/           # Order management</a:t>
            </a:r>
          </a:p>
          <a:p>
            <a:pPr>
              <a:defRPr sz="1400"/>
            </a:pPr>
            <a:r>
              <a:t>│   ├── bill-detail/    # Order details</a:t>
            </a:r>
          </a:p>
          <a:p>
            <a:pPr>
              <a:defRPr sz="1400"/>
            </a:pPr>
            <a:r>
              <a:t>│   ├── blog/           # Blog posts</a:t>
            </a:r>
          </a:p>
          <a:p>
            <a:pPr>
              <a:defRPr sz="1400"/>
            </a:pPr>
            <a:r>
              <a:t>│   ├── comment/        # Comments</a:t>
            </a:r>
          </a:p>
          <a:p>
            <a:pPr>
              <a:defRPr sz="1400"/>
            </a:pPr>
            <a:r>
              <a:t>│   ├── rating/         # Ratings</a:t>
            </a:r>
          </a:p>
          <a:p>
            <a:pPr>
              <a:defRPr sz="1400"/>
            </a:pPr>
            <a:r>
              <a:t>│   ├── wishlist/       # Wishlist</a:t>
            </a:r>
          </a:p>
          <a:p>
            <a:pPr>
              <a:defRPr sz="1400"/>
            </a:pPr>
            <a:r>
              <a:t>│   ├── mail/           # Email service</a:t>
            </a:r>
          </a:p>
          <a:p>
            <a:pPr>
              <a:defRPr sz="1400"/>
            </a:pPr>
            <a:r>
              <a:t>│   └── database/       # DB configuration</a:t>
            </a:r>
          </a:p>
          <a:p>
            <a:pPr>
              <a:defRPr sz="1400"/>
            </a:pPr>
            <a:r>
              <a:t>└── package.json</a:t>
            </a:r>
          </a:p>
          <a:p>
            <a:pPr>
              <a:defRPr sz="1400"/>
            </a:pPr>
            <a: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Triển Khai &amp; Chạy Ứng Dụng</a:t>
            </a:r>
          </a:p>
        </p:txBody>
      </p:sp>
      <p:sp>
        <p:nvSpPr>
          <p:cNvPr id="3" name="Content Placeholder 2"/>
          <p:cNvSpPr>
            <a:spLocks noGrp="1"/>
          </p:cNvSpPr>
          <p:nvPr>
            <p:ph idx="1"/>
          </p:nvPr>
        </p:nvSpPr>
        <p:spPr/>
        <p:txBody>
          <a:bodyPr wrap="square"/>
          <a:lstStyle/>
          <a:p/>
          <a:p>
            <a:pPr>
              <a:defRPr sz="1800" b="1">
                <a:solidFill>
                  <a:srgbClr val="0066CC"/>
                </a:solidFill>
              </a:defRPr>
            </a:pPr>
            <a:r>
              <a:t>Yêu Cầu Hệ Thống</a:t>
            </a:r>
          </a:p>
          <a:p>
            <a:pPr>
              <a:defRPr sz="1400"/>
            </a:pPr>
            <a:r>
              <a:t>Node.js ≥ 16.x</a:t>
            </a:r>
          </a:p>
          <a:p>
            <a:pPr>
              <a:defRPr sz="1400"/>
            </a:pPr>
            <a:r>
              <a:t>npm ≥ 8.x</a:t>
            </a:r>
          </a:p>
          <a:p>
            <a:pPr>
              <a:defRPr sz="1400"/>
            </a:pPr>
            <a:r>
              <a:t>MySQL ≥ 8.0</a:t>
            </a:r>
          </a:p>
          <a:p>
            <a:pPr>
              <a:defRPr sz="1400"/>
            </a:pPr>
            <a:r>
              <a:t>Git</a:t>
            </a:r>
          </a:p>
          <a:p>
            <a:pPr>
              <a:defRPr sz="1800" b="1">
                <a:solidFill>
                  <a:srgbClr val="0066CC"/>
                </a:solidFill>
              </a:defRPr>
            </a:pPr>
            <a:r>
              <a:t>Cài Đặt &amp; Cấu Hình</a:t>
            </a:r>
          </a:p>
          <a:p>
            <a:pPr>
              <a:defRPr sz="1400"/>
            </a:pPr>
            <a:r>
              <a:t>1. Clone repository</a:t>
            </a:r>
          </a:p>
          <a:p>
            <a:pPr>
              <a:defRPr sz="1400"/>
            </a:pPr>
            <a:r>
              <a:t>`bash</a:t>
            </a:r>
          </a:p>
          <a:p>
            <a:pPr>
              <a:defRPr sz="1400"/>
            </a:pPr>
            <a:r>
              <a:t>git clone &lt;repository-url&gt;</a:t>
            </a:r>
          </a:p>
          <a:p>
            <a:pPr>
              <a:defRPr sz="1400"/>
            </a:pPr>
            <a:r>
              <a:t>cd gabi-store</a:t>
            </a:r>
          </a:p>
          <a:p>
            <a:pPr>
              <a:defRPr sz="1400"/>
            </a:pPr>
            <a:r>
              <a:t>`</a:t>
            </a:r>
          </a:p>
          <a:p>
            <a:pPr>
              <a:defRPr sz="1400"/>
            </a:pPr>
            <a:r>
              <a:t>2. Cài đặt Backend</a:t>
            </a:r>
          </a:p>
          <a:p>
            <a:pPr>
              <a:defRPr sz="1400"/>
            </a:pPr>
            <a:r>
              <a:t>`bash</a:t>
            </a:r>
          </a:p>
          <a:p>
            <a:pPr>
              <a:defRPr sz="1400"/>
            </a:pPr>
            <a:r>
              <a:t>cd backend</a:t>
            </a:r>
          </a:p>
          <a:p>
            <a:pPr>
              <a:defRPr sz="1400"/>
            </a:pPr>
            <a:r>
              <a:t>npm install</a:t>
            </a:r>
          </a:p>
          <a:p>
            <a:pPr>
              <a:defRPr sz="1400"/>
            </a:pPr>
            <a:r>
              <a:t># Cấu hình .env (database, JWT secret, PayPal keys)</a:t>
            </a:r>
          </a:p>
          <a:p>
            <a:pPr>
              <a:defRPr sz="1400"/>
            </a:pPr>
            <a:r>
              <a:t>npm run start:dev</a:t>
            </a:r>
          </a:p>
          <a:p>
            <a:pPr>
              <a:defRPr sz="1400"/>
            </a:pPr>
            <a:r>
              <a:t>`</a:t>
            </a:r>
          </a:p>
          <a:p>
            <a:pPr>
              <a:defRPr sz="1400"/>
            </a:pPr>
            <a:r>
              <a:t>3. Cài đặt Frontend</a:t>
            </a:r>
          </a:p>
          <a:p>
            <a:pPr>
              <a:defRPr sz="1400"/>
            </a:pPr>
            <a:r>
              <a:t>`bash</a:t>
            </a:r>
          </a:p>
          <a:p>
            <a:pPr>
              <a:defRPr sz="1400"/>
            </a:pPr>
            <a:r>
              <a:t>cd frontend</a:t>
            </a:r>
          </a:p>
          <a:p>
            <a:pPr>
              <a:defRPr sz="1400"/>
            </a:pPr>
            <a:r>
              <a:t>npm install</a:t>
            </a:r>
          </a:p>
          <a:p>
            <a:pPr>
              <a:defRPr sz="1400"/>
            </a:pPr>
            <a:r>
              <a:t># Cấu hình API endpoint</a:t>
            </a:r>
          </a:p>
          <a:p>
            <a:pPr>
              <a:defRPr sz="1400"/>
            </a:pPr>
            <a:r>
              <a:t>npm start</a:t>
            </a:r>
          </a:p>
          <a:p>
            <a:pPr>
              <a:defRPr sz="1400"/>
            </a:pPr>
            <a:r>
              <a:t>`</a:t>
            </a:r>
          </a:p>
          <a:p>
            <a:pPr>
              <a:defRPr sz="1400"/>
            </a:pPr>
            <a:r>
              <a:t>4. Truy cập</a:t>
            </a:r>
          </a:p>
          <a:p>
            <a:pPr>
              <a:defRPr sz="1400"/>
            </a:pPr>
            <a:r>
              <a:t>Frontend: http://localhost:3000</a:t>
            </a:r>
          </a:p>
          <a:p>
            <a:pPr>
              <a:defRPr sz="1400"/>
            </a:pPr>
            <a:r>
              <a:t>Backend API: http://localhost:4000</a:t>
            </a:r>
          </a:p>
          <a:p>
            <a:pPr>
              <a:defRPr sz="1800" b="1">
                <a:solidFill>
                  <a:srgbClr val="0066CC"/>
                </a:solidFill>
              </a:defRPr>
            </a:pPr>
            <a:r>
              <a:t>Triển Khai Production</a:t>
            </a:r>
          </a:p>
          <a:p>
            <a:pPr>
              <a:defRPr sz="1400"/>
            </a:pPr>
            <a:r>
              <a:t>Build frontend: npm run build</a:t>
            </a:r>
          </a:p>
          <a:p>
            <a:pPr>
              <a:defRPr sz="1400"/>
            </a:pPr>
            <a:r>
              <a:t>Build backend: npm run build</a:t>
            </a:r>
          </a:p>
          <a:p>
            <a:pPr>
              <a:defRPr sz="1400"/>
            </a:pPr>
            <a:r>
              <a:t>Deploy lên VPS/Cloud (AWS, DigitalOcean, Heroku)</a:t>
            </a:r>
          </a:p>
          <a:p>
            <a:pPr>
              <a:defRPr sz="1400"/>
            </a:pPr>
            <a:r>
              <a:t>Cấu hình Nginx reverse proxy</a:t>
            </a:r>
          </a:p>
          <a:p>
            <a:pPr>
              <a:defRPr sz="1400"/>
            </a:pPr>
            <a:r>
              <a:t>SSL certificate với Let's Encrypt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Tính Năng Nổi Bật</a:t>
            </a:r>
          </a:p>
        </p:txBody>
      </p:sp>
      <p:sp>
        <p:nvSpPr>
          <p:cNvPr id="3" name="Content Placeholder 2"/>
          <p:cNvSpPr>
            <a:spLocks noGrp="1"/>
          </p:cNvSpPr>
          <p:nvPr>
            <p:ph idx="1"/>
          </p:nvPr>
        </p:nvSpPr>
        <p:spPr/>
        <p:txBody>
          <a:bodyPr wrap="square"/>
          <a:lstStyle/>
          <a:p/>
          <a:p>
            <a:pPr>
              <a:defRPr sz="1800" b="1">
                <a:solidFill>
                  <a:srgbClr val="0066CC"/>
                </a:solidFill>
              </a:defRPr>
            </a:pPr>
            <a:r>
              <a:t>Ưu Điểm Của Gabi-Store</a:t>
            </a:r>
          </a:p>
          <a:p>
            <a:pPr>
              <a:defRPr sz="1400"/>
            </a:pPr>
            <a:r>
              <a:t>🎨 Giao Diện Hiện Đại</a:t>
            </a:r>
          </a:p>
          <a:p>
            <a:pPr>
              <a:defRPr sz="1400"/>
            </a:pPr>
            <a:r>
              <a:t>Thiết kế đẹp mắt với TailwindCSS</a:t>
            </a:r>
          </a:p>
          <a:p>
            <a:pPr>
              <a:defRPr sz="1400"/>
            </a:pPr>
            <a:r>
              <a:t>Responsive trên mọi thiết bị</a:t>
            </a:r>
          </a:p>
          <a:p>
            <a:pPr>
              <a:defRPr sz="1400"/>
            </a:pPr>
            <a:r>
              <a:t>UX/UI thân thiện người dùng</a:t>
            </a:r>
          </a:p>
          <a:p>
            <a:pPr>
              <a:defRPr sz="1400"/>
            </a:pPr>
            <a:r>
              <a:t>⚡ Hiệu Năng Cao</a:t>
            </a:r>
          </a:p>
          <a:p>
            <a:pPr>
              <a:defRPr sz="1400"/>
            </a:pPr>
            <a:r>
              <a:t>React optimized rendering</a:t>
            </a:r>
          </a:p>
          <a:p>
            <a:pPr>
              <a:defRPr sz="1400"/>
            </a:pPr>
            <a:r>
              <a:t>Lazy loading cho images</a:t>
            </a:r>
          </a:p>
          <a:p>
            <a:pPr>
              <a:defRPr sz="1400"/>
            </a:pPr>
            <a:r>
              <a:t>API caching &amp; optimization</a:t>
            </a:r>
          </a:p>
          <a:p>
            <a:pPr>
              <a:defRPr sz="1400"/>
            </a:pPr>
            <a:r>
              <a:t>🔒 Bảo Mật Tốt</a:t>
            </a:r>
          </a:p>
          <a:p>
            <a:pPr>
              <a:defRPr sz="1400"/>
            </a:pPr>
            <a:r>
              <a:t>JWT authentication</a:t>
            </a:r>
          </a:p>
          <a:p>
            <a:pPr>
              <a:defRPr sz="1400"/>
            </a:pPr>
            <a:r>
              <a:t>Password encryption</a:t>
            </a:r>
          </a:p>
          <a:p>
            <a:pPr>
              <a:defRPr sz="1400"/>
            </a:pPr>
            <a:r>
              <a:t>Protected routes &amp; API endpoints</a:t>
            </a:r>
          </a:p>
          <a:p>
            <a:pPr>
              <a:defRPr sz="1400"/>
            </a:pPr>
            <a:r>
              <a:t>💳 Thanh Toán Linh Hoạt</a:t>
            </a:r>
          </a:p>
          <a:p>
            <a:pPr>
              <a:defRPr sz="1400"/>
            </a:pPr>
            <a:r>
              <a:t>Tích hợp PayPal chính thức</a:t>
            </a:r>
          </a:p>
          <a:p>
            <a:pPr>
              <a:defRPr sz="1400"/>
            </a:pPr>
            <a:r>
              <a:t>Dễ dàng mở rộng payment methods</a:t>
            </a:r>
          </a:p>
          <a:p>
            <a:pPr>
              <a:defRPr sz="1400"/>
            </a:pPr>
            <a:r>
              <a:t>Transaction history tracking</a:t>
            </a:r>
          </a:p>
          <a:p>
            <a:pPr>
              <a:defRPr sz="1400"/>
            </a:pPr>
            <a:r>
              <a:t>📊 Quản Trị Mạnh Mẽ</a:t>
            </a:r>
          </a:p>
          <a:p>
            <a:pPr>
              <a:defRPr sz="1400"/>
            </a:pPr>
            <a:r>
              <a:t>Dashboard trực quan</a:t>
            </a:r>
          </a:p>
          <a:p>
            <a:pPr>
              <a:defRPr sz="1400"/>
            </a:pPr>
            <a:r>
              <a:t>Real-time statistics</a:t>
            </a:r>
          </a:p>
          <a:p>
            <a:pPr>
              <a:defRPr sz="1400"/>
            </a:pPr>
            <a:r>
              <a:t>Comprehensive management tools</a:t>
            </a:r>
          </a:p>
          <a:p>
            <a:pPr>
              <a:defRPr sz="1400"/>
            </a:pPr>
            <a:r>
              <a:t>🔧 Dễ Bảo Trì &amp; Mở Rộng</a:t>
            </a:r>
          </a:p>
          <a:p>
            <a:pPr>
              <a:defRPr sz="1400"/>
            </a:pPr>
            <a:r>
              <a:t>Clean code architecture</a:t>
            </a:r>
          </a:p>
          <a:p>
            <a:pPr>
              <a:defRPr sz="1400"/>
            </a:pPr>
            <a:r>
              <a:t>Modular design (NestJS)</a:t>
            </a:r>
          </a:p>
          <a:p>
            <a:pPr>
              <a:defRPr sz="1400"/>
            </a:pPr>
            <a:r>
              <a:t>Well-documented codebase</a:t>
            </a:r>
          </a:p>
          <a:p>
            <a:pPr>
              <a:defRPr sz="1400"/>
            </a:pPr>
            <a:r>
              <a:t>TypeScript type safety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Demo &amp; Kết Luận</a:t>
            </a:r>
          </a:p>
        </p:txBody>
      </p:sp>
      <p:sp>
        <p:nvSpPr>
          <p:cNvPr id="3" name="Content Placeholder 2"/>
          <p:cNvSpPr>
            <a:spLocks noGrp="1"/>
          </p:cNvSpPr>
          <p:nvPr>
            <p:ph idx="1"/>
          </p:nvPr>
        </p:nvSpPr>
        <p:spPr/>
        <p:txBody>
          <a:bodyPr wrap="square"/>
          <a:lstStyle/>
          <a:p/>
          <a:p>
            <a:pPr>
              <a:defRPr sz="1800" b="1">
                <a:solidFill>
                  <a:srgbClr val="0066CC"/>
                </a:solidFill>
              </a:defRPr>
            </a:pPr>
            <a:r>
              <a:t>Các Tính Năng Đã Triển Khai ✅</a:t>
            </a:r>
          </a:p>
          <a:p>
            <a:pPr>
              <a:defRPr sz="1400"/>
            </a:pPr>
            <a:r>
              <a:t>Phía Khách Hàng</a:t>
            </a:r>
          </a:p>
          <a:p>
            <a:pPr>
              <a:defRPr sz="1400"/>
            </a:pPr>
            <a:r>
              <a:t>✅ Xem &amp; tìm kiếm sản phẩm</a:t>
            </a:r>
          </a:p>
          <a:p>
            <a:pPr>
              <a:defRPr sz="1400"/>
            </a:pPr>
            <a:r>
              <a:t>✅ Giỏ hàng đầy đủ</a:t>
            </a:r>
          </a:p>
          <a:p>
            <a:pPr>
              <a:defRPr sz="1400"/>
            </a:pPr>
            <a:r>
              <a:t>✅ Đặt hàng &amp; thanh toán PayPal</a:t>
            </a:r>
          </a:p>
          <a:p>
            <a:pPr>
              <a:defRPr sz="1400"/>
            </a:pPr>
            <a:r>
              <a:t>✅ Quản lý tài khoản</a:t>
            </a:r>
          </a:p>
          <a:p>
            <a:pPr>
              <a:defRPr sz="1400"/>
            </a:pPr>
            <a:r>
              <a:t>✅ Lịch sử đơn hàng</a:t>
            </a:r>
          </a:p>
          <a:p>
            <a:pPr>
              <a:defRPr sz="1400"/>
            </a:pPr>
            <a:r>
              <a:t>✅ Wishlist &amp; Rating</a:t>
            </a:r>
          </a:p>
          <a:p>
            <a:pPr>
              <a:defRPr sz="1400"/>
            </a:pPr>
            <a:r>
              <a:t>Phía Admin</a:t>
            </a:r>
          </a:p>
          <a:p>
            <a:pPr>
              <a:defRPr sz="1400"/>
            </a:pPr>
            <a:r>
              <a:t>✅ Dashboard thống kê</a:t>
            </a:r>
          </a:p>
          <a:p>
            <a:pPr>
              <a:defRPr sz="1400"/>
            </a:pPr>
            <a:r>
              <a:t>✅ Quản lý sản phẩm (CRUD)</a:t>
            </a:r>
          </a:p>
          <a:p>
            <a:pPr>
              <a:defRPr sz="1400"/>
            </a:pPr>
            <a:r>
              <a:t>✅ Quản lý đơn hàng</a:t>
            </a:r>
          </a:p>
          <a:p>
            <a:pPr>
              <a:defRPr sz="1400"/>
            </a:pPr>
            <a:r>
              <a:t>✅ Quản lý người dùng</a:t>
            </a:r>
          </a:p>
          <a:p>
            <a:pPr>
              <a:defRPr sz="1400"/>
            </a:pPr>
            <a:r>
              <a:t>✅ Quản lý danh mục &amp; thương hiệu</a:t>
            </a:r>
          </a:p>
          <a:p>
            <a:pPr>
              <a:defRPr sz="1400"/>
            </a:pPr>
            <a:r>
              <a:t>✅ Quản lý blog</a:t>
            </a:r>
          </a:p>
          <a:p>
            <a:pPr>
              <a:defRPr sz="1800" b="1">
                <a:solidFill>
                  <a:srgbClr val="0066CC"/>
                </a:solidFill>
              </a:defRPr>
            </a:pPr>
            <a:r>
              <a:t>Hướng Phát Triển 🚀</a:t>
            </a:r>
          </a:p>
          <a:p>
            <a:pPr>
              <a:defRPr sz="1400"/>
            </a:pPr>
            <a:r>
              <a:t>Tính Năng Mới</a:t>
            </a:r>
          </a:p>
          <a:p>
            <a:pPr>
              <a:defRPr sz="1400"/>
            </a:pPr>
            <a:r>
              <a:t>💬 Live chat support</a:t>
            </a:r>
          </a:p>
          <a:p>
            <a:pPr>
              <a:defRPr sz="1400"/>
            </a:pPr>
            <a:r>
              <a:t>🔔 Push notifications</a:t>
            </a:r>
          </a:p>
          <a:p>
            <a:pPr>
              <a:defRPr sz="1400"/>
            </a:pPr>
            <a:r>
              <a:t>📱 Mobile app (React Native)</a:t>
            </a:r>
          </a:p>
          <a:p>
            <a:pPr>
              <a:defRPr sz="1400"/>
            </a:pPr>
            <a:r>
              <a:t>🎯 AI product recommendations</a:t>
            </a:r>
          </a:p>
          <a:p>
            <a:pPr>
              <a:defRPr sz="1400"/>
            </a:pPr>
            <a:r>
              <a:t>📧 Email marketing automation</a:t>
            </a:r>
          </a:p>
          <a:p>
            <a:pPr>
              <a:defRPr sz="1400"/>
            </a:pPr>
            <a:r>
              <a:t>Cải Tiến Kỹ Thuật</a:t>
            </a:r>
          </a:p>
          <a:p>
            <a:pPr>
              <a:defRPr sz="1400"/>
            </a:pPr>
            <a:r>
              <a:t>🐳 Docker containerization</a:t>
            </a:r>
          </a:p>
          <a:p>
            <a:pPr>
              <a:defRPr sz="1400"/>
            </a:pPr>
            <a:r>
              <a:t>☸️ Kubernetes orchestration</a:t>
            </a:r>
          </a:p>
          <a:p>
            <a:pPr>
              <a:defRPr sz="1400"/>
            </a:pPr>
            <a:r>
              <a:t>📊 Advanced analytics &amp; reporting</a:t>
            </a:r>
          </a:p>
          <a:p>
            <a:pPr>
              <a:defRPr sz="1400"/>
            </a:pPr>
            <a:r>
              <a:t>🔍 Elasticsearch for search</a:t>
            </a:r>
          </a:p>
          <a:p>
            <a:pPr>
              <a:defRPr sz="1400"/>
            </a:pPr>
            <a:r>
              <a:t>💾 Redis caching layer</a:t>
            </a:r>
          </a:p>
          <a:p>
            <a:pPr>
              <a:defRPr sz="1800" b="1">
                <a:solidFill>
                  <a:srgbClr val="0066CC"/>
                </a:solidFill>
              </a:defRPr>
            </a:pPr>
            <a:r>
              <a:t>Kết Luận</a:t>
            </a:r>
          </a:p>
          <a:p>
            <a:pPr>
              <a:defRPr sz="1400"/>
            </a:pPr>
            <a:r>
              <a:t>Gabi-Store là một nền tảng thương mại điện tử đầy đủ tính năng, được xây dựng với công nghệ hiện đại và kiến trúc vững chắc. Hệ thống có khả năng mở rộng tốt và sẵn sàng cho môi trường production.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r>
              <a:t>🙏 Cảm ơn!</a:t>
            </a:r>
          </a:p>
        </p:txBody>
      </p:sp>
      <p:sp>
        <p:nvSpPr>
          <p:cNvPr id="3" name="Content Placeholder 2"/>
          <p:cNvSpPr>
            <a:spLocks noGrp="1"/>
          </p:cNvSpPr>
          <p:nvPr>
            <p:ph idx="1"/>
          </p:nvPr>
        </p:nvSpPr>
        <p:spPr/>
        <p:txBody>
          <a:bodyPr wrap="square"/>
          <a:lstStyle/>
          <a:p/>
          <a:p>
            <a:pPr>
              <a:defRPr sz="1800" b="1">
                <a:solidFill>
                  <a:srgbClr val="0066CC"/>
                </a:solidFill>
              </a:defRPr>
            </a:pPr>
            <a:r>
              <a:t>Liên Hệ &amp; Thông Tin</a:t>
            </a:r>
          </a:p>
          <a:p>
            <a:pPr>
              <a:defRPr sz="1400"/>
            </a:pPr>
            <a:r>
              <a:t>Project: Gabi-Store E-Commerce Platform</a:t>
            </a:r>
          </a:p>
          <a:p>
            <a:pPr>
              <a:defRPr sz="1400"/>
            </a:pPr>
            <a:r>
              <a:t>Tech Stack: ReactJS • NestJS • MySQL • TypeScript</a:t>
            </a:r>
          </a:p>
          <a:p>
            <a:pPr>
              <a:defRPr sz="1400"/>
            </a:pPr>
            <a:r>
              <a:t>Repository: [GitHub Link]</a:t>
            </a:r>
          </a:p>
          <a:p>
            <a:pPr>
              <a:defRPr sz="1400"/>
            </a:pPr>
            <a:r>
              <a:t>Documentation: [Docs Link]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solidFill>
                  <a:srgbClr val="003366"/>
                </a:solidFill>
              </a:defRPr>
            </a:pPr>
          </a:p>
        </p:txBody>
      </p:sp>
      <p:sp>
        <p:nvSpPr>
          <p:cNvPr id="3" name="Content Placeholder 2"/>
          <p:cNvSpPr>
            <a:spLocks noGrp="1"/>
          </p:cNvSpPr>
          <p:nvPr>
            <p:ph idx="1"/>
          </p:nvPr>
        </p:nvSpPr>
        <p:spPr/>
        <p:txBody>
          <a:bodyPr wrap="square"/>
          <a:lstStyle/>
          <a:p/>
          <a:p>
            <a:pPr>
              <a:defRPr sz="1400"/>
            </a:pPr>
            <a:r>
              <a:t>Q&amp;A Session</a:t>
            </a:r>
          </a:p>
          <a:p>
            <a:pPr>
              <a:defRPr sz="1400"/>
            </a:pPr>
            <a:r>
              <a:t>*Mọi câu hỏi xin vui lòng đặt tại đây!*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